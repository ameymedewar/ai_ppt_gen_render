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685800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GenAI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68580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>
                <a:solidFill>
                  <a:srgbClr val="2F4F4F"/>
                </a:solidFill>
              </a:defRPr>
            </a:pPr>
            <a:r>
              <a:t>Understanding Generative Artificial Intelligence for University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4114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l">
              <a:defRPr sz="1600">
                <a:solidFill>
                  <a:srgbClr val="3B3B3B"/>
                </a:solidFill>
              </a:defRPr>
            </a:pPr>
            <a:r>
              <a:t>Author: Amey G M</a:t>
            </a:r>
          </a:p>
          <a:p>
            <a:pPr algn="l">
              <a:defRPr sz="1600">
                <a:solidFill>
                  <a:srgbClr val="3B3B3B"/>
                </a:solidFill>
              </a:defRPr>
            </a:pPr>
            <a:r>
              <a:t>Date: July 26,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6858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003366"/>
                </a:solidFill>
              </a:defRPr>
            </a:pPr>
            <a:r>
              <a:t>Shaping the Future of Innovation and Learning</a:t>
            </a:r>
          </a:p>
        </p:txBody>
      </p:sp>
      <p:pic>
        <p:nvPicPr>
          <p:cNvPr id="6" name="Picture 5" descr="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463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What is Generative AI (GenAI)?</a:t>
            </a:r>
            <a:r>
              <a:rPr sz="2000" b="0"/>
              <a:t>: A cutting-edge subset of artificial intelligence focused on creating new, original content rather than just analyzing or classifying existing data.</a:t>
            </a:r>
          </a:p>
          <a:p>
            <a:pPr>
              <a:defRPr sz="2000"/>
            </a:pPr>
            <a:r>
              <a:rPr sz="2000" b="1"/>
              <a:t>Beyond Traditional AI</a:t>
            </a:r>
            <a:r>
              <a:rPr sz="2000" b="0"/>
              <a:t>: Unlike </a:t>
            </a:r>
            <a:r>
              <a:rPr sz="2000" b="1"/>
              <a:t>discriminative AI</a:t>
            </a:r>
            <a:r>
              <a:rPr sz="2000" b="0"/>
              <a:t> which predicts or categorizes (e.g., spam detection, image recognition), GenAI *generates* novel outputs that did not exist before.</a:t>
            </a:r>
          </a:p>
          <a:p>
            <a:pPr>
              <a:defRPr sz="2000"/>
            </a:pPr>
            <a:r>
              <a:rPr sz="2000" b="1"/>
              <a:t>Core Function</a:t>
            </a:r>
            <a:r>
              <a:rPr sz="2000" b="0"/>
              <a:t>: It learns patterns and structures from vast datasets to produce text, images, audio, code, and more that resemble the training data but are entirely new and unique.</a:t>
            </a:r>
          </a:p>
          <a:p>
            <a:pPr>
              <a:defRPr sz="2000"/>
            </a:pPr>
            <a:r>
              <a:rPr sz="2000" b="1"/>
              <a:t>Empowering Creativity</a:t>
            </a:r>
            <a:r>
              <a:rPr sz="2000" b="0"/>
              <a:t>: GenAI opens new avenues for human-computer collaboration, automating content creation, and exploring innovative solutions across various academic and professional fields.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Models and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Foundation Models</a:t>
            </a:r>
            <a:r>
              <a:rPr sz="2000" b="0"/>
              <a:t>: Often built on large neural networks, these models are trained on massive, diverse datasets and can be adapted for numerous tasks, forming the backbone of many GenAI applications.</a:t>
            </a:r>
          </a:p>
          <a:p>
            <a:pPr>
              <a:defRPr sz="2000"/>
            </a:pPr>
            <a:r>
              <a:rPr sz="2000" b="1"/>
              <a:t>Generative Adversarial Networks (GANs)</a:t>
            </a:r>
            <a:r>
              <a:rPr sz="2000" b="0"/>
              <a:t>: Comprise two competing neural networks (a generator and a discriminator) that learn to create highly realistic synthetic data, frequently used for generating images and videos.</a:t>
            </a:r>
          </a:p>
          <a:p>
            <a:pPr>
              <a:defRPr sz="2000"/>
            </a:pPr>
            <a:r>
              <a:rPr sz="2000" b="1"/>
              <a:t>Transformer Architecture</a:t>
            </a:r>
            <a:r>
              <a:rPr sz="2000" b="0"/>
              <a:t>: A powerful neural network design, particularly effective for sequential data like text, enabling models like </a:t>
            </a:r>
            <a:r>
              <a:rPr sz="2000" b="1"/>
              <a:t>GPT</a:t>
            </a:r>
            <a:r>
              <a:rPr sz="2000" b="0"/>
              <a:t> (Generative Pre-trained Transformer) to understand context and generate coherent, human-like language.</a:t>
            </a:r>
          </a:p>
          <a:p>
            <a:pPr>
              <a:defRPr sz="2000"/>
            </a:pPr>
            <a:r>
              <a:rPr sz="2000" b="1"/>
              <a:t>Diverse Outputs</a:t>
            </a:r>
            <a:r>
              <a:rPr sz="2000" b="0"/>
              <a:t>: Capable of generating a wide array of content, including </a:t>
            </a:r>
            <a:r>
              <a:rPr sz="2000" b="1"/>
              <a:t>natural language text</a:t>
            </a:r>
            <a:r>
              <a:rPr sz="2000" b="0"/>
              <a:t>, </a:t>
            </a:r>
            <a:r>
              <a:rPr sz="2000" b="1"/>
              <a:t>realistic images and art</a:t>
            </a:r>
            <a:r>
              <a:rPr sz="2000" b="0"/>
              <a:t>, </a:t>
            </a:r>
            <a:r>
              <a:rPr sz="2000" b="1"/>
              <a:t>synthesized audio</a:t>
            </a:r>
            <a:r>
              <a:rPr sz="2000" b="0"/>
              <a:t>, </a:t>
            </a:r>
            <a:r>
              <a:rPr sz="2000" b="1"/>
              <a:t>video clips</a:t>
            </a:r>
            <a:r>
              <a:rPr sz="2000" b="0"/>
              <a:t>, and even </a:t>
            </a:r>
            <a:r>
              <a:rPr sz="2000" b="1"/>
              <a:t>functional code snippets</a:t>
            </a:r>
            <a:r>
              <a:rPr sz="2000" b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&amp; Impact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Academic Enhancement</a:t>
            </a:r>
            <a:r>
              <a:rPr sz="2000" b="0"/>
              <a:t>: Utilize GenAI tools for </a:t>
            </a:r>
            <a:r>
              <a:rPr sz="2000" b="1"/>
              <a:t>research assistance</a:t>
            </a:r>
            <a:r>
              <a:rPr sz="2000" b="0"/>
              <a:t>, </a:t>
            </a:r>
            <a:r>
              <a:rPr sz="2000" b="1"/>
              <a:t>summarizing complex texts</a:t>
            </a:r>
            <a:r>
              <a:rPr sz="2000" b="0"/>
              <a:t>, </a:t>
            </a:r>
            <a:r>
              <a:rPr sz="2000" b="1"/>
              <a:t>brainstorming ideas for essays</a:t>
            </a:r>
            <a:r>
              <a:rPr sz="2000" b="0"/>
              <a:t>, and </a:t>
            </a:r>
            <a:r>
              <a:rPr sz="2000" b="1"/>
              <a:t>generating code examples</a:t>
            </a:r>
            <a:r>
              <a:rPr sz="2000" b="0"/>
              <a:t> to aid learning and problem-solving.</a:t>
            </a:r>
          </a:p>
          <a:p>
            <a:pPr>
              <a:defRPr sz="2000"/>
            </a:pPr>
            <a:r>
              <a:rPr sz="2000" b="1"/>
              <a:t>Creative Expression</a:t>
            </a:r>
            <a:r>
              <a:rPr sz="2000" b="0"/>
              <a:t>: Explore new forms of </a:t>
            </a:r>
            <a:r>
              <a:rPr sz="2000" b="1"/>
              <a:t>digital art</a:t>
            </a:r>
            <a:r>
              <a:rPr sz="2000" b="0"/>
              <a:t>, </a:t>
            </a:r>
            <a:r>
              <a:rPr sz="2000" b="1"/>
              <a:t>music composition</a:t>
            </a:r>
            <a:r>
              <a:rPr sz="2000" b="0"/>
              <a:t>, </a:t>
            </a:r>
            <a:r>
              <a:rPr sz="2000" b="1"/>
              <a:t>storytelling</a:t>
            </a:r>
            <a:r>
              <a:rPr sz="2000" b="0"/>
              <a:t>, and </a:t>
            </a:r>
            <a:r>
              <a:rPr sz="2000" b="1"/>
              <a:t>design concepts</a:t>
            </a:r>
            <a:r>
              <a:rPr sz="2000" b="0"/>
              <a:t> by leveraging GenAI as a creative partner, pushing the boundaries of traditional media.</a:t>
            </a:r>
          </a:p>
          <a:p>
            <a:pPr>
              <a:defRPr sz="2000"/>
            </a:pPr>
            <a:r>
              <a:rPr sz="2000" b="1"/>
              <a:t>Skill Development</a:t>
            </a:r>
            <a:r>
              <a:rPr sz="2000" b="0"/>
              <a:t>: Gain hands-on experience with cutting-edge technology, developing critical skills in </a:t>
            </a:r>
            <a:r>
              <a:rPr sz="2000" b="1"/>
              <a:t>prompt engineering</a:t>
            </a:r>
            <a:r>
              <a:rPr sz="2000" b="0"/>
              <a:t>, </a:t>
            </a:r>
            <a:r>
              <a:rPr sz="2000" b="1"/>
              <a:t>data analysis</a:t>
            </a:r>
            <a:r>
              <a:rPr sz="2000" b="0"/>
              <a:t>, and </a:t>
            </a:r>
            <a:r>
              <a:rPr sz="2000" b="1"/>
              <a:t>ethical AI application</a:t>
            </a:r>
            <a:r>
              <a:rPr sz="2000" b="0"/>
              <a:t>, which are highly valued in future careers.</a:t>
            </a:r>
          </a:p>
          <a:p>
            <a:pPr>
              <a:defRPr sz="2000"/>
            </a:pPr>
            <a:r>
              <a:rPr sz="2000" b="1"/>
              <a:t>Career Readiness</a:t>
            </a:r>
            <a:r>
              <a:rPr sz="2000" b="0"/>
              <a:t>: Understand how GenAI is transforming industries from marketing to engineering, preparing for roles that involve </a:t>
            </a:r>
            <a:r>
              <a:rPr sz="2000" b="1"/>
              <a:t>AI development</a:t>
            </a:r>
            <a:r>
              <a:rPr sz="2000" b="0"/>
              <a:t>, </a:t>
            </a:r>
            <a:r>
              <a:rPr sz="2000" b="1"/>
              <a:t>content creation</a:t>
            </a:r>
            <a:r>
              <a:rPr sz="2000" b="0"/>
              <a:t>, </a:t>
            </a:r>
            <a:r>
              <a:rPr sz="2000" b="1"/>
              <a:t>data science</a:t>
            </a:r>
            <a:r>
              <a:rPr sz="2000" b="0"/>
              <a:t>, and </a:t>
            </a:r>
            <a:r>
              <a:rPr sz="2000" b="1"/>
              <a:t>strategic innovation</a:t>
            </a:r>
            <a:r>
              <a:rPr sz="2000" b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/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 b="1">
                <a:solidFill>
                  <a:srgbClr val="003366"/>
                </a:solidFill>
              </a:defRPr>
            </a:pPr>
            <a:r>
              <a:t>Summary Points:</a:t>
            </a:r>
          </a:p>
          <a:p>
            <a:pPr>
              <a:spcAft>
                <a:spcPts val="500"/>
              </a:spcAft>
              <a:defRPr sz="2000"/>
            </a:pPr>
            <a:r>
              <a:t>GenAI is a Transformative Technology: It creates new, original content, moving beyond traditional AI's analytical focus.</a:t>
            </a:r>
          </a:p>
          <a:p>
            <a:pPr>
              <a:spcAft>
                <a:spcPts val="500"/>
              </a:spcAft>
              <a:defRPr sz="2000"/>
            </a:pPr>
            <a:r>
              <a:t>Powered by Advanced Models: Key architectures like GANs and Transformers enable its diverse generative capabilities.</a:t>
            </a:r>
          </a:p>
          <a:p>
            <a:pPr>
              <a:spcAft>
                <a:spcPts val="500"/>
              </a:spcAft>
              <a:defRPr sz="2000"/>
            </a:pPr>
            <a:r>
              <a:t>Vast Applications: From academic support and creative endeavors to industry innovation, GenAI is reshaping how we work and learn.</a:t>
            </a:r>
          </a:p>
          <a:p>
            <a:pPr>
              <a:spcAft>
                <a:spcPts val="500"/>
              </a:spcAft>
              <a:defRPr sz="2000"/>
            </a:pPr>
            <a:r>
              <a:t>Empowers Students: Offers powerful tools for learning, research, and skill development, preparing for future challenges.</a:t>
            </a:r>
          </a:p>
          <a:p>
            <a:pPr>
              <a:spcAft>
                <a:spcPts val="500"/>
              </a:spcAft>
              <a:defRPr sz="2000"/>
            </a:pPr>
            <a:r>
              <a:t>Requires Responsible Engagement: Understanding its potential, limitations, and ethical implications is crucial for effective and beneficial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Comparison: Traditional AI vs.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Primary Goal:</a:t>
            </a:r>
          </a:p>
          <a:p>
            <a:pPr lvl="1">
              <a:defRPr sz="1800"/>
            </a:pPr>
            <a:r>
              <a:rPr sz="1800" b="0"/>
              <a:t/>
            </a:r>
          </a:p>
          <a:p>
            <a:pPr>
              <a:defRPr sz="2000"/>
            </a:pPr>
            <a:r>
              <a:rPr sz="2000" b="1"/>
              <a:t>Traditional AI:</a:t>
            </a:r>
          </a:p>
          <a:p>
            <a:pPr lvl="1">
              <a:defRPr sz="1800"/>
            </a:pPr>
            <a:r>
              <a:rPr sz="1800" b="0"/>
              <a:t>Analyze, classify, and predict based on existing data.</a:t>
            </a:r>
          </a:p>
          <a:p>
            <a:pPr>
              <a:defRPr sz="2000"/>
            </a:pPr>
            <a:r>
              <a:rPr sz="2000" b="1"/>
              <a:t>Generative AI:</a:t>
            </a:r>
          </a:p>
          <a:p>
            <a:pPr lvl="1">
              <a:defRPr sz="1800"/>
            </a:pPr>
            <a:r>
              <a:rPr sz="1800" b="0"/>
              <a:t>Create new, original data or content that did not previously exist.</a:t>
            </a:r>
          </a:p>
          <a:p>
            <a:pPr>
              <a:defRPr sz="2000"/>
            </a:pPr>
            <a:r>
              <a:rPr sz="2000" b="1"/>
              <a:t>Output Type:</a:t>
            </a:r>
          </a:p>
          <a:p>
            <a:pPr lvl="1">
              <a:defRPr sz="1800"/>
            </a:pPr>
            <a:r>
              <a:rPr sz="1800" b="0"/>
              <a:t/>
            </a:r>
          </a:p>
          <a:p>
            <a:pPr>
              <a:defRPr sz="2000"/>
            </a:pPr>
            <a:r>
              <a:rPr sz="2000" b="1"/>
              <a:t>Traditional AI:</a:t>
            </a:r>
          </a:p>
          <a:p>
            <a:pPr lvl="1">
              <a:defRPr sz="1800"/>
            </a:pPr>
            <a:r>
              <a:rPr sz="1800" b="0"/>
              <a:t>Labels, scores, classifications, predictions (e.g., "cat" or "not spam").</a:t>
            </a:r>
          </a:p>
          <a:p>
            <a:pPr>
              <a:defRPr sz="2000"/>
            </a:pPr>
            <a:r>
              <a:rPr sz="2000" b="1"/>
              <a:t>Generative AI:</a:t>
            </a:r>
          </a:p>
          <a:p>
            <a:pPr lvl="1">
              <a:defRPr sz="1800"/>
            </a:pPr>
            <a:r>
              <a:rPr sz="1800" b="0"/>
              <a:t>Text, images, audio, code, designs (e.g., a new poem or a unique image).</a:t>
            </a:r>
          </a:p>
          <a:p>
            <a:pPr>
              <a:defRPr sz="2000"/>
            </a:pPr>
            <a:r>
              <a:rPr sz="2000" b="1"/>
              <a:t>Learning Focus:</a:t>
            </a:r>
          </a:p>
          <a:p>
            <a:pPr lvl="1">
              <a:defRPr sz="1800"/>
            </a:pPr>
            <a:r>
              <a:rPr sz="1800" b="0"/>
              <a:t/>
            </a:r>
          </a:p>
          <a:p>
            <a:pPr>
              <a:defRPr sz="2000"/>
            </a:pPr>
            <a:r>
              <a:rPr sz="2000" b="1"/>
              <a:t>Traditional AI:</a:t>
            </a:r>
          </a:p>
          <a:p>
            <a:pPr lvl="1">
              <a:defRPr sz="1800"/>
            </a:pPr>
            <a:r>
              <a:rPr sz="1800" b="0"/>
              <a:t>Identify patterns and relationships within given data to make decisions.</a:t>
            </a:r>
          </a:p>
          <a:p>
            <a:pPr>
              <a:defRPr sz="2000"/>
            </a:pPr>
            <a:r>
              <a:rPr sz="2000" b="1"/>
              <a:t>Generative AI:</a:t>
            </a:r>
          </a:p>
          <a:p>
            <a:pPr lvl="1">
              <a:defRPr sz="1800"/>
            </a:pPr>
            <a:r>
              <a:rPr sz="1800" b="0"/>
              <a:t>Learn the underlying data distributions to produce novel, plausible samples.</a:t>
            </a:r>
          </a:p>
          <a:p>
            <a:pPr>
              <a:defRPr sz="2000"/>
            </a:pPr>
            <a:r>
              <a:rPr sz="2000" b="1"/>
              <a:t>Example Tasks:</a:t>
            </a:r>
          </a:p>
          <a:p>
            <a:pPr lvl="1">
              <a:defRPr sz="1800"/>
            </a:pPr>
            <a:r>
              <a:rPr sz="1800" b="0"/>
              <a:t/>
            </a:r>
          </a:p>
          <a:p>
            <a:pPr>
              <a:defRPr sz="2000"/>
            </a:pPr>
            <a:r>
              <a:rPr sz="2000" b="1"/>
              <a:t>Traditional AI:</a:t>
            </a:r>
          </a:p>
          <a:p>
            <a:pPr lvl="1">
              <a:defRPr sz="1800"/>
            </a:pPr>
            <a:r>
              <a:rPr sz="1800" b="0"/>
              <a:t>Spam detection, facial recognition, medical diagnosis support.</a:t>
            </a:r>
          </a:p>
          <a:p>
            <a:pPr>
              <a:defRPr sz="2000"/>
            </a:pPr>
            <a:r>
              <a:rPr sz="2000" b="1"/>
              <a:t>Generative AI:</a:t>
            </a:r>
          </a:p>
          <a:p>
            <a:pPr lvl="1">
              <a:defRPr sz="1800"/>
            </a:pPr>
            <a:r>
              <a:rPr sz="1800" b="0"/>
              <a:t>Writing articles, creating realistic deepfakes, composing original music.</a:t>
            </a:r>
          </a:p>
          <a:p>
            <a:pPr>
              <a:defRPr sz="2000"/>
            </a:pPr>
            <a:r>
              <a:rPr sz="2000" b="1"/>
              <a:t>Innovation Driver:</a:t>
            </a:r>
          </a:p>
          <a:p>
            <a:pPr lvl="1">
              <a:defRPr sz="1800"/>
            </a:pPr>
            <a:r>
              <a:rPr sz="1800" b="0"/>
              <a:t/>
            </a:r>
          </a:p>
          <a:p>
            <a:pPr>
              <a:defRPr sz="2000"/>
            </a:pPr>
            <a:r>
              <a:rPr sz="2000" b="1"/>
              <a:t>Traditional AI:</a:t>
            </a:r>
          </a:p>
          <a:p>
            <a:pPr lvl="1">
              <a:defRPr sz="1800"/>
            </a:pPr>
            <a:r>
              <a:rPr sz="1800" b="0"/>
              <a:t>Automation, efficiency, informed decision-making, problem-solving.</a:t>
            </a:r>
          </a:p>
          <a:p>
            <a:pPr>
              <a:defRPr sz="2000"/>
            </a:pPr>
            <a:r>
              <a:rPr sz="2000" b="1"/>
              <a:t>Generative AI:</a:t>
            </a:r>
          </a:p>
          <a:p>
            <a:pPr lvl="1">
              <a:defRPr sz="1800"/>
            </a:pPr>
            <a:r>
              <a:rPr sz="1800" b="0"/>
              <a:t>Creativity, content scalability, exploration of new possibilities, innovation.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505050"/>
                </a:solidFill>
              </a:defRPr>
            </a:pPr>
            <a:r>
              <a:t>We appreciate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